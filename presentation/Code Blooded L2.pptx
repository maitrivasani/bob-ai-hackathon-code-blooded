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E1DC"/>
                </a:solidFill>
                <a:latin typeface="Aptos"/>
              </a:rPr>
              <a:t>CODE BLOODED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2F7FF"/>
                </a:solidFill>
                <a:latin typeface="Aptos"/>
              </a:rPr>
              <a:t>SupplyGuard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FA0B8"/>
                </a:solidFill>
                <a:latin typeface="Aptos"/>
              </a:rPr>
              <a:t>AI-powered Supply Chain Disruption Assistant
&amp; Fleet Utilisation Optimizer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03320"/>
            <a:ext cx="6217920" cy="100584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41648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BE1DC"/>
                </a:solidFill>
                <a:latin typeface="Aptos"/>
              </a:rPr>
              <a:t>DETECT  →  PREDICT  →  OPTIMISE  →  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914400"/>
            <a:ext cx="4251960" cy="512064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922622" y="1051560"/>
            <a:ext cx="0" cy="4846319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30045" y="1051560"/>
            <a:ext cx="0" cy="4846319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37468" y="1051560"/>
            <a:ext cx="0" cy="4846319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44891" y="1051560"/>
            <a:ext cx="0" cy="4846319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52314" y="1051560"/>
            <a:ext cx="0" cy="4846319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59737" y="1051560"/>
            <a:ext cx="0" cy="4846319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52360" y="1767839"/>
            <a:ext cx="397764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2621279"/>
            <a:ext cx="397764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3474719"/>
            <a:ext cx="397764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4328159"/>
            <a:ext cx="397764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5181600"/>
            <a:ext cx="397764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55279" y="1508760"/>
            <a:ext cx="1371601" cy="320040"/>
          </a:xfrm>
          <a:prstGeom prst="line">
            <a:avLst/>
          </a:prstGeom>
          <a:ln w="38100">
            <a:solidFill>
              <a:srgbClr val="42E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26880" y="1508760"/>
            <a:ext cx="1463040" cy="731520"/>
          </a:xfrm>
          <a:prstGeom prst="line">
            <a:avLst/>
          </a:prstGeom>
          <a:ln w="38100">
            <a:solidFill>
              <a:srgbClr val="42E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789920" y="2240280"/>
            <a:ext cx="914400" cy="1143000"/>
          </a:xfrm>
          <a:prstGeom prst="line">
            <a:avLst/>
          </a:prstGeom>
          <a:ln w="38100">
            <a:solidFill>
              <a:srgbClr val="42E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704320" y="3383280"/>
            <a:ext cx="1097280" cy="731520"/>
          </a:xfrm>
          <a:prstGeom prst="line">
            <a:avLst/>
          </a:prstGeom>
          <a:ln w="38100">
            <a:solidFill>
              <a:srgbClr val="42E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95360" y="3383280"/>
            <a:ext cx="1463040" cy="365759"/>
          </a:xfrm>
          <a:prstGeom prst="line">
            <a:avLst/>
          </a:prstGeom>
          <a:ln w="635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058400" y="3383280"/>
            <a:ext cx="1645920" cy="365759"/>
          </a:xfrm>
          <a:prstGeom prst="line">
            <a:avLst/>
          </a:prstGeom>
          <a:ln w="635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26880" y="1508760"/>
            <a:ext cx="731520" cy="2240279"/>
          </a:xfrm>
          <a:prstGeom prst="line">
            <a:avLst/>
          </a:prstGeom>
          <a:ln w="381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3749039"/>
            <a:ext cx="1097280" cy="822961"/>
          </a:xfrm>
          <a:prstGeom prst="line">
            <a:avLst/>
          </a:prstGeom>
          <a:ln w="381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155680" y="4114800"/>
            <a:ext cx="1645920" cy="457200"/>
          </a:xfrm>
          <a:prstGeom prst="line">
            <a:avLst/>
          </a:prstGeom>
          <a:ln w="381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0" y="1399031"/>
            <a:ext cx="411480" cy="201168"/>
          </a:xfrm>
          <a:prstGeom prst="round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7192" y="1435607"/>
            <a:ext cx="164592" cy="164592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17152" y="1572767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64624" y="1572767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142999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BE1DC"/>
                </a:solidFill>
                <a:latin typeface="Aptos"/>
              </a:rPr>
              <a:t>V03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3639311"/>
            <a:ext cx="411480" cy="201168"/>
          </a:xfrm>
          <a:prstGeom prst="roundRect">
            <a:avLst/>
          </a:prstGeom>
          <a:solidFill>
            <a:srgbClr val="FFA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68712" y="3675887"/>
            <a:ext cx="164592" cy="164592"/>
          </a:xfrm>
          <a:prstGeom prst="rect">
            <a:avLst/>
          </a:prstGeom>
          <a:solidFill>
            <a:srgbClr val="FFA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48672" y="3813048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96144" y="3813048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3383279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AB4E"/>
                </a:solidFill>
                <a:latin typeface="Aptos"/>
              </a:rPr>
              <a:t>V07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1737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5B6A"/>
                </a:solidFill>
                <a:latin typeface="Aptos"/>
              </a:rPr>
              <a:t>NH-48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0690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AD256"/>
                </a:solidFill>
                <a:latin typeface="Aptos"/>
              </a:rPr>
              <a:t>ALTERNATE ROUTE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01  The disruption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A blocked route can ripple through the entire delivery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42316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89888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BE1DC"/>
                </a:solidFill>
                <a:latin typeface="Aptos"/>
              </a:rP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28800"/>
            <a:ext cx="2093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1234440"/>
            <a:ext cx="242316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4" y="1389888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4F81FF"/>
                </a:solidFill>
                <a:latin typeface="Aptos"/>
              </a:rPr>
              <a:t>1,000s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1828800"/>
            <a:ext cx="2093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shipments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9864" y="1234440"/>
            <a:ext cx="242316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34455" y="1389888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AB4E"/>
                </a:solidFill>
                <a:latin typeface="Aptos"/>
              </a:rPr>
              <a:t>Multiple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5" y="1828800"/>
            <a:ext cx="2093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warehouses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7616" y="1234440"/>
            <a:ext cx="315468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389888"/>
            <a:ext cx="2825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5B6A"/>
                </a:solidFill>
                <a:latin typeface="Aptos"/>
              </a:rPr>
              <a:t>Strict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1828800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deadlines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514600"/>
            <a:ext cx="5212080" cy="3246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34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5B6A"/>
                </a:solidFill>
                <a:latin typeface="Aptos"/>
              </a:rPr>
              <a:t>🚨  NH-48 BLOCKED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0156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0B8"/>
                </a:solidFill>
                <a:latin typeface="Aptos"/>
              </a:rPr>
              <a:t>A normal fleet system might only say: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22191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2F7FF"/>
                </a:solidFill>
                <a:latin typeface="Aptos"/>
              </a:rPr>
              <a:t>“Route blocked.”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0B8"/>
                </a:solidFill>
                <a:latin typeface="Aptos"/>
              </a:rPr>
              <a:t>But the manager still needs answers: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Which shipments?  •  How late?
Which vehicle?  •  Which route?
What should we do NOW?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514600"/>
            <a:ext cx="5486400" cy="324612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E1DC"/>
                </a:solidFill>
                <a:latin typeface="Aptos"/>
              </a:rPr>
              <a:t>THE REAL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7FF"/>
                </a:solidFill>
                <a:latin typeface="Aptos"/>
              </a:rPr>
              <a:t>Not “What happened?”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58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0B8"/>
                </a:solidFill>
                <a:latin typeface="Aptos"/>
              </a:rPr>
              <a:t>but…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51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2E097"/>
                </a:solidFill>
                <a:latin typeface="Aptos"/>
              </a:rPr>
              <a:t>“What should I do?”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0B8"/>
                </a:solidFill>
                <a:latin typeface="Aptos"/>
              </a:rPr>
              <a:t>That is the gap SupplyGuard AI fills.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02  From disruption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One continuous intelligence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93392" cy="233172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E1D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7FF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90672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0B8"/>
                </a:solidFill>
                <a:latin typeface="Aptos"/>
              </a:rPr>
              <a:t>Vehicles • shipments
routes • deadlines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971800"/>
            <a:ext cx="292608" cy="0"/>
          </a:xfrm>
          <a:prstGeom prst="line">
            <a:avLst/>
          </a:prstGeom>
          <a:ln w="29209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43784" y="1828800"/>
            <a:ext cx="1993392" cy="233172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2057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5B6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7FF"/>
                </a:solidFill>
                <a:latin typeface="Aptos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3090672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0B8"/>
                </a:solidFill>
                <a:latin typeface="Aptos"/>
              </a:rPr>
              <a:t>Road closure
traffic • weather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55464" y="2971800"/>
            <a:ext cx="292608" cy="0"/>
          </a:xfrm>
          <a:prstGeom prst="line">
            <a:avLst/>
          </a:prstGeom>
          <a:ln w="29209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84648" y="1828800"/>
            <a:ext cx="1993392" cy="233172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057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B4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7FF"/>
                </a:solidFill>
                <a:latin typeface="Aptos"/>
              </a:rPr>
              <a:t>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3090672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0B8"/>
                </a:solidFill>
                <a:latin typeface="Aptos"/>
              </a:rPr>
              <a:t>ETA • delay
risk • cost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6328" y="2971800"/>
            <a:ext cx="292608" cy="0"/>
          </a:xfrm>
          <a:prstGeom prst="line">
            <a:avLst/>
          </a:prstGeom>
          <a:ln w="29209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25512" y="1828800"/>
            <a:ext cx="1993392" cy="233172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2057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F81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7FF"/>
                </a:solidFill>
                <a:latin typeface="Aptos"/>
              </a:rPr>
              <a:t>OPTIMISE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3090672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0B8"/>
                </a:solidFill>
                <a:latin typeface="Aptos"/>
              </a:rPr>
              <a:t>Fleet • route
priority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37192" y="2971800"/>
            <a:ext cx="292608" cy="0"/>
          </a:xfrm>
          <a:prstGeom prst="line">
            <a:avLst/>
          </a:prstGeom>
          <a:ln w="29209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66376" y="1828800"/>
            <a:ext cx="1993392" cy="233172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9256" y="2057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E097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9256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7FF"/>
                </a:solidFill>
                <a:latin typeface="Aptos"/>
              </a:rPr>
              <a:t>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9256" y="3090672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0B8"/>
                </a:solidFill>
                <a:latin typeface="Aptos"/>
              </a:rPr>
              <a:t>Next-best
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0749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BE1DC"/>
                </a:solidFill>
                <a:latin typeface="Aptos"/>
              </a:rPr>
              <a:t>AI turns raw operational data into a clear, explainable response.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03  Live-style logistics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Simulated network view: blocked route, alternate route and vehicle positions.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7635240" cy="498348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685108" y="1371600"/>
            <a:ext cx="0" cy="470916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75857" y="1371600"/>
            <a:ext cx="0" cy="470916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66605" y="1371600"/>
            <a:ext cx="0" cy="470916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57354" y="1371600"/>
            <a:ext cx="0" cy="470916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48102" y="1371600"/>
            <a:ext cx="0" cy="470916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8851" y="1371600"/>
            <a:ext cx="0" cy="470916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" y="2065020"/>
            <a:ext cx="736092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20" y="2895600"/>
            <a:ext cx="736092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" y="3726180"/>
            <a:ext cx="736092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4556760"/>
            <a:ext cx="736092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" y="5387340"/>
            <a:ext cx="7360920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34440" y="1828800"/>
            <a:ext cx="1371600" cy="320040"/>
          </a:xfrm>
          <a:prstGeom prst="line">
            <a:avLst/>
          </a:prstGeom>
          <a:ln w="635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6040" y="1828800"/>
            <a:ext cx="1463040" cy="731520"/>
          </a:xfrm>
          <a:prstGeom prst="line">
            <a:avLst/>
          </a:prstGeom>
          <a:ln w="635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2560320"/>
            <a:ext cx="914400" cy="1143000"/>
          </a:xfrm>
          <a:prstGeom prst="line">
            <a:avLst/>
          </a:prstGeom>
          <a:ln w="635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480" y="3703320"/>
            <a:ext cx="1097280" cy="731520"/>
          </a:xfrm>
          <a:prstGeom prst="line">
            <a:avLst/>
          </a:prstGeom>
          <a:ln w="635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06040" y="1828800"/>
            <a:ext cx="731520" cy="2240280"/>
          </a:xfrm>
          <a:prstGeom prst="line">
            <a:avLst/>
          </a:prstGeom>
          <a:ln w="508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37560" y="4069080"/>
            <a:ext cx="1097280" cy="822960"/>
          </a:xfrm>
          <a:prstGeom prst="line">
            <a:avLst/>
          </a:prstGeom>
          <a:ln w="508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434840" y="4434840"/>
            <a:ext cx="1645920" cy="457200"/>
          </a:xfrm>
          <a:prstGeom prst="line">
            <a:avLst/>
          </a:prstGeom>
          <a:ln w="508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74519" y="3703320"/>
            <a:ext cx="1463041" cy="365760"/>
          </a:xfrm>
          <a:prstGeom prst="line">
            <a:avLst/>
          </a:prstGeom>
          <a:ln w="38100">
            <a:solidFill>
              <a:srgbClr val="42E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337560" y="3703320"/>
            <a:ext cx="1645920" cy="365760"/>
          </a:xfrm>
          <a:prstGeom prst="line">
            <a:avLst/>
          </a:prstGeom>
          <a:ln w="38100">
            <a:solidFill>
              <a:srgbClr val="42E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1288" y="2075688"/>
            <a:ext cx="146304" cy="146304"/>
          </a:xfrm>
          <a:prstGeom prst="ellipse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227685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F7FF"/>
                </a:solidFill>
                <a:latin typeface="Aptos"/>
              </a:rPr>
              <a:t>Ahmedabad</a:t>
            </a:r>
          </a:p>
        </p:txBody>
      </p:sp>
      <p:sp>
        <p:nvSpPr>
          <p:cNvPr id="28" name="Oval 27"/>
          <p:cNvSpPr/>
          <p:nvPr/>
        </p:nvSpPr>
        <p:spPr>
          <a:xfrm>
            <a:off x="3995928" y="2487168"/>
            <a:ext cx="146304" cy="146304"/>
          </a:xfrm>
          <a:prstGeom prst="ellipse">
            <a:avLst/>
          </a:prstGeom>
          <a:solidFill>
            <a:srgbClr val="4F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268833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F7FF"/>
                </a:solidFill>
                <a:latin typeface="Aptos"/>
              </a:rPr>
              <a:t>Vadodara</a:t>
            </a:r>
          </a:p>
        </p:txBody>
      </p:sp>
      <p:sp>
        <p:nvSpPr>
          <p:cNvPr id="30" name="Oval 29"/>
          <p:cNvSpPr/>
          <p:nvPr/>
        </p:nvSpPr>
        <p:spPr>
          <a:xfrm>
            <a:off x="6007608" y="4361688"/>
            <a:ext cx="146304" cy="146304"/>
          </a:xfrm>
          <a:prstGeom prst="ellipse">
            <a:avLst/>
          </a:prstGeom>
          <a:solidFill>
            <a:srgbClr val="42E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4562855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F7FF"/>
                </a:solidFill>
                <a:latin typeface="Aptos"/>
              </a:rPr>
              <a:t>Surat</a:t>
            </a:r>
          </a:p>
        </p:txBody>
      </p:sp>
      <p:sp>
        <p:nvSpPr>
          <p:cNvPr id="32" name="Oval 31"/>
          <p:cNvSpPr/>
          <p:nvPr/>
        </p:nvSpPr>
        <p:spPr>
          <a:xfrm>
            <a:off x="2350008" y="5093208"/>
            <a:ext cx="146304" cy="146304"/>
          </a:xfrm>
          <a:prstGeom prst="ellipse">
            <a:avLst/>
          </a:prstGeom>
          <a:solidFill>
            <a:srgbClr val="FFA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79" y="52943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F7FF"/>
                </a:solidFill>
                <a:latin typeface="Aptos"/>
              </a:rPr>
              <a:t>Warehouse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1719072"/>
            <a:ext cx="411480" cy="201168"/>
          </a:xfrm>
          <a:prstGeom prst="round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16352" y="1755648"/>
            <a:ext cx="164592" cy="164592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96312" y="1892807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43784" y="1892807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1463039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BE1DC"/>
                </a:solidFill>
                <a:latin typeface="Aptos"/>
              </a:rPr>
              <a:t>V03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3593592"/>
            <a:ext cx="411480" cy="201168"/>
          </a:xfrm>
          <a:prstGeom prst="roundRect">
            <a:avLst/>
          </a:prstGeom>
          <a:solidFill>
            <a:srgbClr val="FFA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93792" y="3630168"/>
            <a:ext cx="164592" cy="164592"/>
          </a:xfrm>
          <a:prstGeom prst="rect">
            <a:avLst/>
          </a:prstGeom>
          <a:solidFill>
            <a:srgbClr val="FFA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73752" y="3767328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21224" y="3767328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333756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AB4E"/>
                </a:solidFill>
                <a:latin typeface="Aptos"/>
              </a:rPr>
              <a:t>V07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8200" y="1234440"/>
            <a:ext cx="3108960" cy="498348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MAP LEGEND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78240" y="2148840"/>
            <a:ext cx="548640" cy="0"/>
          </a:xfrm>
          <a:prstGeom prst="line">
            <a:avLst/>
          </a:prstGeom>
          <a:ln w="508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509760" y="20391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7FF"/>
                </a:solidFill>
                <a:latin typeface="Aptos"/>
              </a:rPr>
              <a:t>Blocked route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78240" y="2697480"/>
            <a:ext cx="548640" cy="0"/>
          </a:xfrm>
          <a:prstGeom prst="line">
            <a:avLst/>
          </a:prstGeom>
          <a:ln w="508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509760" y="25877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7FF"/>
                </a:solidFill>
                <a:latin typeface="Aptos"/>
              </a:rPr>
              <a:t>Alternate route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778240" y="3246120"/>
            <a:ext cx="548640" cy="0"/>
          </a:xfrm>
          <a:prstGeom prst="line">
            <a:avLst/>
          </a:prstGeom>
          <a:ln w="50800">
            <a:solidFill>
              <a:srgbClr val="42E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09760" y="313639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7FF"/>
                </a:solidFill>
                <a:latin typeface="Aptos"/>
              </a:rPr>
              <a:t>Normal route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778240" y="3794760"/>
            <a:ext cx="548640" cy="0"/>
          </a:xfrm>
          <a:prstGeom prst="line">
            <a:avLst/>
          </a:prstGeom>
          <a:ln w="50800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509760" y="3685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7FF"/>
                </a:solidFill>
                <a:latin typeface="Aptos"/>
              </a:rPr>
              <a:t>Available vehicle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B4E"/>
                </a:solidFill>
                <a:latin typeface="Aptos"/>
              </a:rPr>
              <a:t>3 vehicles affected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B6A"/>
                </a:solidFill>
                <a:latin typeface="Aptos"/>
              </a:rPr>
              <a:t>12 shipments at risk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ETA risk: 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04 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The system identifies exactly what the disruption touches.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1460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89888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5B6A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28800"/>
            <a:ext cx="2185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shipments at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34440"/>
            <a:ext cx="251460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389888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AB4E"/>
                </a:solidFill>
                <a:latin typeface="Aptos"/>
              </a:rPr>
              <a:t>2.5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828800"/>
            <a:ext cx="2185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estimated delay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234440"/>
            <a:ext cx="251460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389888"/>
            <a:ext cx="2185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AD25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828800"/>
            <a:ext cx="2185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vehicles affected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234440"/>
            <a:ext cx="288036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1389888"/>
            <a:ext cx="2551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4F81FF"/>
                </a:solidFill>
                <a:latin typeface="Aptos"/>
              </a:rPr>
              <a:t>₹XX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1828800"/>
            <a:ext cx="2551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extra operational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514600"/>
            <a:ext cx="6492240" cy="333756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SHIPMENT RISK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375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S17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3375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B6A"/>
                </a:solidFill>
                <a:latin typeface="Aptos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3375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0B8"/>
                </a:solidFill>
                <a:latin typeface="Aptos"/>
              </a:rPr>
              <a:t>90 min to deadline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5B6A"/>
                </a:solidFill>
                <a:latin typeface="Aptos"/>
              </a:rPr>
              <a:t>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04487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S18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904487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B4E"/>
                </a:solidFill>
                <a:latin typeface="Aptos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90448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0B8"/>
                </a:solidFill>
                <a:latin typeface="Aptos"/>
              </a:rPr>
              <a:t>2 h to deadline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90448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AB4E"/>
                </a:solidFill>
                <a:latin typeface="Aptos"/>
              </a:rPr>
              <a:t>AT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7141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S21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7141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AD256"/>
                </a:solidFill>
                <a:latin typeface="Aptos"/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47141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0B8"/>
                </a:solidFill>
                <a:latin typeface="Aptos"/>
              </a:rPr>
              <a:t>4 h to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47141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AD256"/>
                </a:solidFill>
                <a:latin typeface="Aptos"/>
              </a:rPr>
              <a:t>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3834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S24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03834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E097"/>
                </a:solidFill>
                <a:latin typeface="Aptos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0383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0B8"/>
                </a:solidFill>
                <a:latin typeface="Aptos"/>
              </a:rPr>
              <a:t>6 h to deadline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03834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2E097"/>
                </a:solidFill>
                <a:latin typeface="Aptos"/>
              </a:rPr>
              <a:t>MONITOR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2514600"/>
            <a:ext cx="4251960" cy="333756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E1DC"/>
                </a:solidFill>
                <a:latin typeface="Aptos"/>
              </a:rPr>
              <a:t>WHY S17 FIRST?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0B8"/>
                </a:solidFill>
                <a:latin typeface="Aptos"/>
              </a:rPr>
              <a:t>Deadline slack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3520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5B6A"/>
                </a:solidFill>
                <a:latin typeface="Aptos"/>
              </a:rPr>
              <a:t>90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0B8"/>
                </a:solidFill>
                <a:latin typeface="Aptos"/>
              </a:rPr>
              <a:t>Route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069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AB4E"/>
                </a:solidFill>
                <a:latin typeface="Aptos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0B8"/>
                </a:solidFill>
                <a:latin typeface="Aptos"/>
              </a:rPr>
              <a:t>Decision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4617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2E097"/>
                </a:solidFill>
                <a:latin typeface="Aptos"/>
              </a:rPr>
              <a:t>0.91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05  AI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The output is not a chart. It is an action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452628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E1DC"/>
                </a:solidFill>
                <a:latin typeface="Aptos"/>
              </a:rPr>
              <a:t>🤖  NEXT-BEST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A0B8"/>
                </a:solidFill>
                <a:latin typeface="Aptos"/>
              </a:rPr>
              <a:t>REASSIGN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500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7FF"/>
                </a:solidFill>
                <a:latin typeface="Aptos"/>
              </a:rPr>
              <a:t>V03  →  S17 + S18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A0B8"/>
                </a:solidFill>
                <a:latin typeface="Aptos"/>
              </a:rPr>
              <a:t>REROUTE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0815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2F7FF"/>
                </a:solidFill>
                <a:latin typeface="Aptos"/>
              </a:rPr>
              <a:t>Route B  instead of  Route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FA0B8"/>
                </a:solidFill>
                <a:latin typeface="Aptos"/>
              </a:rPr>
              <a:t>PRIORITISE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8130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2F7FF"/>
                </a:solidFill>
                <a:latin typeface="Aptos"/>
              </a:rPr>
              <a:t>S17 — deadline in 90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148840"/>
            <a:ext cx="306324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04288"/>
            <a:ext cx="2734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42E097"/>
                </a:solidFill>
                <a:latin typeface="Aptos"/>
              </a:rPr>
              <a:t>35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743200"/>
            <a:ext cx="2734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new estimated delay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337560"/>
            <a:ext cx="306324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3493008"/>
            <a:ext cx="2734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42E097"/>
                </a:solidFill>
                <a:latin typeface="Aptos"/>
              </a:rPr>
              <a:t>−77%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3931920"/>
            <a:ext cx="2734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delay reduction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4526280"/>
            <a:ext cx="306324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4681728"/>
            <a:ext cx="2734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BE1DC"/>
                </a:solidFill>
                <a:latin typeface="Aptos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5120640"/>
            <a:ext cx="2734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864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0B8"/>
                </a:solidFill>
                <a:latin typeface="Aptos"/>
              </a:rPr>
              <a:t>Explainable recommendation • constraints checked • human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06  Fleet utilisation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Use capacity intelligently before adding more vehicles.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6537960" cy="480060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CURRENT 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V01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40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0B8"/>
                </a:solidFill>
                <a:latin typeface="Aptos"/>
              </a:rPr>
              <a:t>900 / 1000 kg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267712"/>
            <a:ext cx="2468880" cy="256032"/>
          </a:xfrm>
          <a:prstGeom prst="round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54680" y="2267712"/>
            <a:ext cx="2221992" cy="256032"/>
          </a:xfrm>
          <a:prstGeom prst="roundRect">
            <a:avLst/>
          </a:prstGeom>
          <a:solidFill>
            <a:srgbClr val="42E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22219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2E097"/>
                </a:solidFill>
                <a:latin typeface="Aptos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V02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91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0B8"/>
                </a:solidFill>
                <a:latin typeface="Aptos"/>
              </a:rPr>
              <a:t>600 / 1500 kg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319272"/>
            <a:ext cx="2468880" cy="256032"/>
          </a:xfrm>
          <a:prstGeom prst="round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54680" y="3319272"/>
            <a:ext cx="987552" cy="256032"/>
          </a:xfrm>
          <a:prstGeom prst="roundRect">
            <a:avLst/>
          </a:prstGeom>
          <a:solidFill>
            <a:srgbClr val="FAD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32735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AD256"/>
                </a:solidFill>
                <a:latin typeface="Aptos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V03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43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0B8"/>
                </a:solidFill>
                <a:latin typeface="Aptos"/>
              </a:rPr>
              <a:t>200 / 1000 kg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370832"/>
            <a:ext cx="2468880" cy="256032"/>
          </a:xfrm>
          <a:prstGeom prst="round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54680" y="4370832"/>
            <a:ext cx="493776" cy="256032"/>
          </a:xfrm>
          <a:prstGeom prst="roundRect">
            <a:avLst/>
          </a:prstGeom>
          <a:solidFill>
            <a:srgbClr val="FF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43251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5B6A"/>
                </a:solidFill>
                <a:latin typeface="Aptos"/>
              </a:rPr>
              <a:t>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280160"/>
            <a:ext cx="4206240" cy="480060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1600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7FF"/>
                </a:solidFill>
                <a:latin typeface="Aptos"/>
              </a:rPr>
              <a:t>V03 is underutilised.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E1DC"/>
                </a:solidFill>
                <a:latin typeface="Aptos"/>
              </a:rPr>
              <a:t>Assign S21 → V03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703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FA0B8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114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↑ capacity match
↓ idle time
↓ extra-vehicle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07  WOW: What-If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Simulate a disruption before it becomes an expensive surprise.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834640" cy="452628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SIMULATE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286000" cy="420624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942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7FF"/>
                </a:solidFill>
                <a:latin typeface="Aptos"/>
              </a:rPr>
              <a:t>🚚 V05 breakdown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2286000" cy="420624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4378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7FF"/>
                </a:solidFill>
                <a:latin typeface="Aptos"/>
              </a:rPr>
              <a:t>🌧️ Heavy rainfall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37560"/>
            <a:ext cx="2286000" cy="420624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3814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7FF"/>
                </a:solidFill>
                <a:latin typeface="Aptos"/>
              </a:rPr>
              <a:t>🛣️ Road closure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31920"/>
            <a:ext cx="2286000" cy="420624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3250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7FF"/>
                </a:solidFill>
                <a:latin typeface="Aptos"/>
              </a:rPr>
              <a:t>📦 Demand spike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526280"/>
            <a:ext cx="2286000" cy="420624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2686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7FF"/>
                </a:solidFill>
                <a:latin typeface="Aptos"/>
              </a:rPr>
              <a:t>🏭 Warehouse delay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1325880"/>
            <a:ext cx="3383280" cy="452628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SCENARIO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B6A"/>
                </a:solidFill>
                <a:latin typeface="Aptos"/>
              </a:rPr>
              <a:t>V05 BREAKS 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E1DC"/>
                </a:solidFill>
                <a:latin typeface="Aptos"/>
              </a:rPr>
              <a:t>RUN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FA0B8"/>
                </a:solidFill>
                <a:latin typeface="Aptos"/>
              </a:rPr>
              <a:t>AI recalculates routes,
capacity, deadlines &amp; cost.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325880"/>
            <a:ext cx="4206240" cy="452628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AI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7FF"/>
                </a:solidFill>
                <a:latin typeface="Aptos"/>
              </a:rPr>
              <a:t>9 vehicles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7FF"/>
                </a:solidFill>
                <a:latin typeface="Aptos"/>
              </a:rPr>
              <a:t>25 shipments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971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B4E"/>
                </a:solidFill>
                <a:latin typeface="Aptos"/>
              </a:rPr>
              <a:t>Avg delay: 41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E097"/>
                </a:solidFill>
                <a:latin typeface="Aptos"/>
              </a:rPr>
              <a:t>Reassign V08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E097"/>
                </a:solidFill>
                <a:latin typeface="Aptos"/>
              </a:rPr>
              <a:t>Prioritise S12 &amp; S17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E1DC"/>
                </a:solidFill>
                <a:latin typeface="Aptos"/>
              </a:rPr>
              <a:t>Before → After → Next best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08  Competition-level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A manager sees the network, risk and recommendation in one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201400" cy="516636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7FF"/>
                </a:solidFill>
                <a:latin typeface="Aptos"/>
              </a:rPr>
              <a:t>SUPPLYGUARD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4447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2E097"/>
                </a:solidFill>
                <a:latin typeface="Aptos"/>
              </a:rPr>
              <a:t>LIVE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205740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29967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42E097"/>
                </a:solidFill>
                <a:latin typeface="Aptos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68879"/>
            <a:ext cx="1728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74519"/>
            <a:ext cx="205740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2029967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AD256"/>
                </a:solidFill>
                <a:latin typeface="Apto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468879"/>
            <a:ext cx="1728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delayed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874519"/>
            <a:ext cx="205740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2029967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5B6A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2468879"/>
            <a:ext cx="1728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at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874519"/>
            <a:ext cx="205740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2029967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BE1DC"/>
                </a:solidFill>
                <a:latin typeface="Aptos"/>
              </a:rPr>
              <a:t>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2468879"/>
            <a:ext cx="1728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utilisation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874519"/>
            <a:ext cx="1600200" cy="9601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2952" y="2029967"/>
            <a:ext cx="1271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42E097"/>
                </a:solidFill>
                <a:latin typeface="Aptos"/>
              </a:rPr>
              <a:t>−71%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2468879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FA0B8"/>
                </a:solidFill>
                <a:latin typeface="Aptos"/>
              </a:rPr>
              <a:t>delay after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154680"/>
            <a:ext cx="5806440" cy="278892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606731" y="3291840"/>
            <a:ext cx="0" cy="251460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36222" y="3291840"/>
            <a:ext cx="0" cy="251460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65714" y="3291840"/>
            <a:ext cx="0" cy="251460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095205" y="3291840"/>
            <a:ext cx="0" cy="251460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24697" y="3291840"/>
            <a:ext cx="0" cy="251460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54188" y="3291840"/>
            <a:ext cx="0" cy="251460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" y="3619500"/>
            <a:ext cx="5532119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" y="4084320"/>
            <a:ext cx="5532119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4549140"/>
            <a:ext cx="5532119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4400" y="5013960"/>
            <a:ext cx="5532119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14400" y="5478780"/>
            <a:ext cx="5532119" cy="0"/>
          </a:xfrm>
          <a:prstGeom prst="line">
            <a:avLst/>
          </a:prstGeom>
          <a:ln w="8890">
            <a:solidFill>
              <a:srgbClr val="1C2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17319" y="3749040"/>
            <a:ext cx="1371601" cy="320040"/>
          </a:xfrm>
          <a:prstGeom prst="line">
            <a:avLst/>
          </a:prstGeom>
          <a:ln w="381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88920" y="3749040"/>
            <a:ext cx="1463039" cy="731520"/>
          </a:xfrm>
          <a:prstGeom prst="line">
            <a:avLst/>
          </a:prstGeom>
          <a:ln w="381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51959" y="4480560"/>
            <a:ext cx="914400" cy="1143000"/>
          </a:xfrm>
          <a:prstGeom prst="line">
            <a:avLst/>
          </a:prstGeom>
          <a:ln w="38100">
            <a:solidFill>
              <a:srgbClr val="FF5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88920" y="3749040"/>
            <a:ext cx="731520" cy="2240280"/>
          </a:xfrm>
          <a:prstGeom prst="line">
            <a:avLst/>
          </a:prstGeom>
          <a:ln w="381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20440" y="5989320"/>
            <a:ext cx="1097280" cy="822960"/>
          </a:xfrm>
          <a:prstGeom prst="line">
            <a:avLst/>
          </a:prstGeom>
          <a:ln w="381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17720" y="5623560"/>
            <a:ext cx="548639" cy="1188720"/>
          </a:xfrm>
          <a:prstGeom prst="line">
            <a:avLst/>
          </a:prstGeom>
          <a:ln w="38100">
            <a:solidFill>
              <a:srgbClr val="FAD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606040" y="3639312"/>
            <a:ext cx="411480" cy="201168"/>
          </a:xfrm>
          <a:prstGeom prst="round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99232" y="3675888"/>
            <a:ext cx="164592" cy="164592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679192" y="3813048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26664" y="3813048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338328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BE1DC"/>
                </a:solidFill>
                <a:latin typeface="Aptos"/>
              </a:rPr>
              <a:t>V03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37560" y="5879592"/>
            <a:ext cx="411480" cy="201168"/>
          </a:xfrm>
          <a:prstGeom prst="roundRect">
            <a:avLst/>
          </a:prstGeom>
          <a:solidFill>
            <a:srgbClr val="FFA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30752" y="5916168"/>
            <a:ext cx="164592" cy="164592"/>
          </a:xfrm>
          <a:prstGeom prst="rect">
            <a:avLst/>
          </a:prstGeom>
          <a:solidFill>
            <a:srgbClr val="FFA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10712" y="6053328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58184" y="6053328"/>
            <a:ext cx="91440" cy="91440"/>
          </a:xfrm>
          <a:prstGeom prst="ellipse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0" y="562356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AB4E"/>
                </a:solidFill>
                <a:latin typeface="Aptos"/>
              </a:rPr>
              <a:t>V07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12280" y="3154680"/>
            <a:ext cx="4343400" cy="278892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86600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E1DC"/>
                </a:solidFill>
                <a:latin typeface="Aptos"/>
              </a:rPr>
              <a:t>🤖 RECOMMENDED 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977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7FF"/>
                </a:solidFill>
                <a:latin typeface="Aptos"/>
              </a:rPr>
              <a:t>Reassign V07 → S14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A0B8"/>
                </a:solidFill>
                <a:latin typeface="Aptos"/>
              </a:rPr>
              <a:t>Reroute via Route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5029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E097"/>
                </a:solidFill>
                <a:latin typeface="Aptos"/>
              </a:rPr>
              <a:t>Delay reduction 71%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09  AI engine +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Modular enough for a hackathon prototype, extensible enough for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92024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728216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B6A"/>
                </a:solidFill>
                <a:latin typeface="Aptos"/>
              </a:rPr>
              <a:t>Disruption
Detection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32888" y="1993392"/>
            <a:ext cx="301752" cy="0"/>
          </a:xfrm>
          <a:prstGeom prst="line">
            <a:avLst/>
          </a:prstGeom>
          <a:ln w="29209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1417320"/>
            <a:ext cx="192024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8" y="1728216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AB4E"/>
                </a:solidFill>
                <a:latin typeface="Aptos"/>
              </a:rPr>
              <a:t>Delay
Prediction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18888" y="1993392"/>
            <a:ext cx="301752" cy="0"/>
          </a:xfrm>
          <a:prstGeom prst="line">
            <a:avLst/>
          </a:prstGeom>
          <a:ln w="29209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1417320"/>
            <a:ext cx="192024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6088" y="1728216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F81FF"/>
                </a:solidFill>
                <a:latin typeface="Aptos"/>
              </a:rPr>
              <a:t>Fleet
Optimizer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04888" y="1993392"/>
            <a:ext cx="301752" cy="0"/>
          </a:xfrm>
          <a:prstGeom prst="line">
            <a:avLst/>
          </a:prstGeom>
          <a:ln w="29209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60" y="1417320"/>
            <a:ext cx="192024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1728216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2E097"/>
                </a:solidFill>
                <a:latin typeface="Aptos"/>
              </a:rPr>
              <a:t>Recommendation
Engine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90888" y="1993392"/>
            <a:ext cx="301752" cy="0"/>
          </a:xfrm>
          <a:prstGeom prst="line">
            <a:avLst/>
          </a:prstGeom>
          <a:ln w="29209">
            <a:solidFill>
              <a:srgbClr val="2B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38360" y="1417320"/>
            <a:ext cx="192024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8088" y="1728216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E1DC"/>
                </a:solidFill>
                <a:latin typeface="Aptos"/>
              </a:rPr>
              <a:t>Manager
Assistant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63240"/>
            <a:ext cx="11064240" cy="251460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404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F7FF"/>
                </a:solidFill>
                <a:latin typeface="Aptos"/>
              </a:rPr>
              <a:t>Vehicles   •   Shipments   •   Routes   •   Warehouses   •   Deadlines   •   Disruptions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E1DC"/>
                </a:solidFill>
                <a:latin typeface="Aptos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90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0B8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17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F81FF"/>
                </a:solidFill>
                <a:latin typeface="Apto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5902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0B8"/>
                </a:solidFill>
                <a:latin typeface="Aptos"/>
              </a:rPr>
              <a:t>Python • Flask / 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6177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E097"/>
                </a:solidFill>
                <a:latin typeface="Aptos"/>
              </a:rPr>
              <a:t>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590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0B8"/>
                </a:solidFill>
                <a:latin typeface="Aptos"/>
              </a:rPr>
              <a:t>Pandas • Scikit-learn • optimisation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10  Build plan &amp; measurable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Simple stack. Clear prototype. Quantifiable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983480" cy="59436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E1DC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3990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7FF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84248"/>
            <a:ext cx="4983480" cy="59436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F81FF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7FF"/>
                </a:solidFill>
                <a:latin typeface="Aptos"/>
              </a:rPr>
              <a:t>Python • Flask /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34056"/>
            <a:ext cx="4983480" cy="59436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B4E"/>
                </a:solidFill>
                <a:latin typeface="Aptos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8986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7FF"/>
                </a:solidFill>
                <a:latin typeface="Aptos"/>
              </a:rPr>
              <a:t>SQLite / 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83864"/>
            <a:ext cx="4983480" cy="59436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667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2E097"/>
                </a:solidFill>
                <a:latin typeface="Aptos"/>
              </a:rPr>
              <a:t>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6484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7FF"/>
                </a:solidFill>
                <a:latin typeface="Aptos"/>
              </a:rPr>
              <a:t>Pandas • Scikit-learn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33672"/>
            <a:ext cx="4983480" cy="594360"/>
          </a:xfrm>
          <a:prstGeom prst="roundRect">
            <a:avLst/>
          </a:prstGeom>
          <a:solidFill>
            <a:srgbClr val="0E1727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1655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D256"/>
                </a:solidFill>
                <a:latin typeface="Aptos"/>
              </a:rPr>
              <a:t>OPTIONAL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3982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7FF"/>
                </a:solidFill>
                <a:latin typeface="Aptos"/>
              </a:rPr>
              <a:t>LLM assistant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234440"/>
            <a:ext cx="5669280" cy="438912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FA0B8"/>
                </a:solidFill>
                <a:latin typeface="Aptos"/>
              </a:rPr>
              <a:t>EXPECTED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48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2E097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194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delivery delay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862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AB4E"/>
                </a:solidFill>
                <a:latin typeface="Aptos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0779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avoidable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5753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E1DC"/>
                </a:solidFill>
                <a:latin typeface="Aptos"/>
              </a:rPr>
              <a:t>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6210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fleet utilisation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88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81FF"/>
                </a:solidFill>
                <a:latin typeface="Aptos"/>
              </a:rP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33425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on-time priority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892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E1DC"/>
                </a:solidFill>
                <a:latin typeface="Aptos"/>
              </a:rPr>
              <a:t>Core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6460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FA0B8"/>
                </a:solidFill>
                <a:latin typeface="Aptos"/>
              </a:rPr>
              <a:t>AI assists the manager; humans approve critical actions.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8FA0B8"/>
                </a:solidFill>
                <a:latin typeface="Aptos"/>
              </a:rPr>
              <a:t>CODE BLOODED  •  SUPPLYGUARD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FA0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E1DC"/>
                </a:solidFill>
                <a:latin typeface="Aptos"/>
              </a:rPr>
              <a:t>CODE BLOODED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2F7FF"/>
                </a:solidFill>
                <a:latin typeface="Aptos"/>
              </a:rPr>
              <a:t>We don't just detect disruption.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2E097"/>
                </a:solidFill>
                <a:latin typeface="Aptos"/>
              </a:rPr>
              <a:t>WE RECOMMEND THE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3429000"/>
            <a:ext cx="845820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1C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3794760"/>
            <a:ext cx="7909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BE1DC"/>
                </a:solidFill>
                <a:latin typeface="Aptos"/>
              </a:rPr>
              <a:t>🚨 Disruption  →  🧠 Impact  →  🚚 Optimisation  →  🎯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FA0B8"/>
                </a:solidFill>
                <a:latin typeface="Aptos"/>
              </a:rPr>
              <a:t>SupplyGuard AI  |  L2 — Supply Chain Disruption Assistant &amp; Fleet Utilisation 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